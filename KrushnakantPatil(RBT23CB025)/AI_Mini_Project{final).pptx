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63" r:id="rId5"/>
    <p:sldId id="258" r:id="rId6"/>
    <p:sldId id="260" r:id="rId7"/>
    <p:sldId id="259" r:id="rId8"/>
    <p:sldId id="261"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varScale="1">
        <p:scale>
          <a:sx n="91" d="100"/>
          <a:sy n="91" d="100"/>
        </p:scale>
        <p:origin x="123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shnakant Patil" userId="2d5f41bce7f2a9b0" providerId="LiveId" clId="{BF3FE6BD-1FDE-4E4F-9193-E83D129EC0EF}"/>
    <pc:docChg chg="custSel modSld">
      <pc:chgData name="Krushnakant Patil" userId="2d5f41bce7f2a9b0" providerId="LiveId" clId="{BF3FE6BD-1FDE-4E4F-9193-E83D129EC0EF}" dt="2025-11-05T04:10:58.531" v="60" actId="20577"/>
      <pc:docMkLst>
        <pc:docMk/>
      </pc:docMkLst>
      <pc:sldChg chg="modSp mod">
        <pc:chgData name="Krushnakant Patil" userId="2d5f41bce7f2a9b0" providerId="LiveId" clId="{BF3FE6BD-1FDE-4E4F-9193-E83D129EC0EF}" dt="2025-11-05T04:10:58.531" v="60" actId="20577"/>
        <pc:sldMkLst>
          <pc:docMk/>
          <pc:sldMk cId="0" sldId="256"/>
        </pc:sldMkLst>
        <pc:spChg chg="mod">
          <ac:chgData name="Krushnakant Patil" userId="2d5f41bce7f2a9b0" providerId="LiveId" clId="{BF3FE6BD-1FDE-4E4F-9193-E83D129EC0EF}" dt="2025-11-05T04:10:58.531" v="60" actId="20577"/>
          <ac:spMkLst>
            <pc:docMk/>
            <pc:sldMk cId="0" sldId="256"/>
            <ac:spMk id="3" creationId="{00000000-0000-0000-0000-000000000000}"/>
          </ac:spMkLst>
        </pc:spChg>
      </pc:sldChg>
      <pc:sldChg chg="modSp mod">
        <pc:chgData name="Krushnakant Patil" userId="2d5f41bce7f2a9b0" providerId="LiveId" clId="{BF3FE6BD-1FDE-4E4F-9193-E83D129EC0EF}" dt="2025-11-05T03:18:30.981" v="1" actId="20577"/>
        <pc:sldMkLst>
          <pc:docMk/>
          <pc:sldMk cId="0" sldId="257"/>
        </pc:sldMkLst>
        <pc:spChg chg="mod">
          <ac:chgData name="Krushnakant Patil" userId="2d5f41bce7f2a9b0" providerId="LiveId" clId="{BF3FE6BD-1FDE-4E4F-9193-E83D129EC0EF}" dt="2025-11-05T03:18:30.981" v="1" actId="20577"/>
          <ac:spMkLst>
            <pc:docMk/>
            <pc:sldMk cId="0" sldId="257"/>
            <ac:spMk id="3" creationId="{00000000-0000-0000-0000-000000000000}"/>
          </ac:spMkLst>
        </pc:spChg>
      </pc:sldChg>
      <pc:sldChg chg="modSp mod">
        <pc:chgData name="Krushnakant Patil" userId="2d5f41bce7f2a9b0" providerId="LiveId" clId="{BF3FE6BD-1FDE-4E4F-9193-E83D129EC0EF}" dt="2025-11-05T03:28:49.073" v="30" actId="14100"/>
        <pc:sldMkLst>
          <pc:docMk/>
          <pc:sldMk cId="0" sldId="258"/>
        </pc:sldMkLst>
        <pc:spChg chg="mod">
          <ac:chgData name="Krushnakant Patil" userId="2d5f41bce7f2a9b0" providerId="LiveId" clId="{BF3FE6BD-1FDE-4E4F-9193-E83D129EC0EF}" dt="2025-11-05T03:28:49.073" v="30" actId="14100"/>
          <ac:spMkLst>
            <pc:docMk/>
            <pc:sldMk cId="0" sldId="258"/>
            <ac:spMk id="3" creationId="{00000000-0000-0000-0000-000000000000}"/>
          </ac:spMkLst>
        </pc:spChg>
      </pc:sldChg>
      <pc:sldChg chg="modSp mod">
        <pc:chgData name="Krushnakant Patil" userId="2d5f41bce7f2a9b0" providerId="LiveId" clId="{BF3FE6BD-1FDE-4E4F-9193-E83D129EC0EF}" dt="2025-11-05T03:32:08.373" v="35" actId="20577"/>
        <pc:sldMkLst>
          <pc:docMk/>
          <pc:sldMk cId="0" sldId="259"/>
        </pc:sldMkLst>
        <pc:spChg chg="mod">
          <ac:chgData name="Krushnakant Patil" userId="2d5f41bce7f2a9b0" providerId="LiveId" clId="{BF3FE6BD-1FDE-4E4F-9193-E83D129EC0EF}" dt="2025-11-05T03:32:08.373" v="35" actId="20577"/>
          <ac:spMkLst>
            <pc:docMk/>
            <pc:sldMk cId="0" sldId="259"/>
            <ac:spMk id="3" creationId="{00000000-0000-0000-0000-000000000000}"/>
          </ac:spMkLst>
        </pc:spChg>
      </pc:sldChg>
      <pc:sldChg chg="modSp mod">
        <pc:chgData name="Krushnakant Patil" userId="2d5f41bce7f2a9b0" providerId="LiveId" clId="{BF3FE6BD-1FDE-4E4F-9193-E83D129EC0EF}" dt="2025-11-05T03:25:45.311" v="23" actId="20577"/>
        <pc:sldMkLst>
          <pc:docMk/>
          <pc:sldMk cId="1566774695" sldId="262"/>
        </pc:sldMkLst>
        <pc:spChg chg="mod">
          <ac:chgData name="Krushnakant Patil" userId="2d5f41bce7f2a9b0" providerId="LiveId" clId="{BF3FE6BD-1FDE-4E4F-9193-E83D129EC0EF}" dt="2025-11-05T03:23:41.704" v="12" actId="14100"/>
          <ac:spMkLst>
            <pc:docMk/>
            <pc:sldMk cId="1566774695" sldId="262"/>
            <ac:spMk id="2" creationId="{6DC10CFD-22BB-FFDD-05F1-7637A3DA2E09}"/>
          </ac:spMkLst>
        </pc:spChg>
        <pc:spChg chg="mod">
          <ac:chgData name="Krushnakant Patil" userId="2d5f41bce7f2a9b0" providerId="LiveId" clId="{BF3FE6BD-1FDE-4E4F-9193-E83D129EC0EF}" dt="2025-11-05T03:25:45.311" v="23" actId="20577"/>
          <ac:spMkLst>
            <pc:docMk/>
            <pc:sldMk cId="1566774695" sldId="262"/>
            <ac:spMk id="3" creationId="{3090D563-9634-C3AB-3C9C-482C6356A808}"/>
          </ac:spMkLst>
        </pc:spChg>
      </pc:sldChg>
      <pc:sldChg chg="modSp mod">
        <pc:chgData name="Krushnakant Patil" userId="2d5f41bce7f2a9b0" providerId="LiveId" clId="{BF3FE6BD-1FDE-4E4F-9193-E83D129EC0EF}" dt="2025-11-05T03:26:33.127" v="28" actId="20577"/>
        <pc:sldMkLst>
          <pc:docMk/>
          <pc:sldMk cId="2781507769" sldId="263"/>
        </pc:sldMkLst>
        <pc:spChg chg="mod">
          <ac:chgData name="Krushnakant Patil" userId="2d5f41bce7f2a9b0" providerId="LiveId" clId="{BF3FE6BD-1FDE-4E4F-9193-E83D129EC0EF}" dt="2025-11-05T03:26:33.127" v="28" actId="20577"/>
          <ac:spMkLst>
            <pc:docMk/>
            <pc:sldMk cId="2781507769" sldId="263"/>
            <ac:spMk id="3" creationId="{F8088E75-36C6-F84C-BA10-2A7F96CB5F1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000" b="1" dirty="0">
                <a:latin typeface="Times New Roman" pitchFamily="18" charset="0"/>
                <a:cs typeface="Times New Roman" pitchFamily="18" charset="0"/>
              </a:rPr>
              <a:t>Title of </a:t>
            </a:r>
            <a:r>
              <a:rPr lang="en-US" sz="2000" b="1" dirty="0" err="1">
                <a:latin typeface="Times New Roman" pitchFamily="18" charset="0"/>
                <a:cs typeface="Times New Roman" pitchFamily="18" charset="0"/>
              </a:rPr>
              <a:t>Project</a:t>
            </a:r>
            <a:r>
              <a:rPr lang="en-US" sz="2000" dirty="0" err="1">
                <a:latin typeface="Times New Roman" pitchFamily="18" charset="0"/>
                <a:cs typeface="Times New Roman" pitchFamily="18" charset="0"/>
              </a:rPr>
              <a:t>:Movie</a:t>
            </a:r>
            <a:r>
              <a:rPr lang="en-US" sz="2000" dirty="0">
                <a:latin typeface="Times New Roman" pitchFamily="18" charset="0"/>
                <a:cs typeface="Times New Roman" pitchFamily="18" charset="0"/>
              </a:rPr>
              <a:t> Recommendation System using Artificial Intelligence</a:t>
            </a:r>
            <a:endParaRPr sz="2000" dirty="0">
              <a:latin typeface="Times New Roman" pitchFamily="18" charset="0"/>
              <a:cs typeface="Times New Roman" pitchFamily="18" charset="0"/>
            </a:endParaRPr>
          </a:p>
        </p:txBody>
      </p:sp>
      <p:sp>
        <p:nvSpPr>
          <p:cNvPr id="3" name="Subtitle 2"/>
          <p:cNvSpPr>
            <a:spLocks noGrp="1"/>
          </p:cNvSpPr>
          <p:nvPr>
            <p:ph type="subTitle" idx="1"/>
          </p:nvPr>
        </p:nvSpPr>
        <p:spPr/>
        <p:txBody>
          <a:bodyPr>
            <a:normAutofit/>
          </a:bodyPr>
          <a:lstStyle/>
          <a:p>
            <a:pPr algn="l"/>
            <a:r>
              <a:rPr sz="1800" b="1" dirty="0">
                <a:solidFill>
                  <a:schemeClr val="tx1"/>
                </a:solidFill>
                <a:latin typeface="Times New Roman" pitchFamily="18" charset="0"/>
                <a:cs typeface="Times New Roman" pitchFamily="18" charset="0"/>
              </a:rPr>
              <a:t>Student Name</a:t>
            </a:r>
            <a:r>
              <a:rPr lang="en-US" sz="1800" b="1" dirty="0">
                <a:solidFill>
                  <a:schemeClr val="tx1"/>
                </a:solidFill>
                <a:latin typeface="Times New Roman" pitchFamily="18" charset="0"/>
                <a:cs typeface="Times New Roman" pitchFamily="18" charset="0"/>
              </a:rPr>
              <a:t>:</a:t>
            </a:r>
          </a:p>
          <a:p>
            <a:pPr algn="l"/>
            <a:r>
              <a:rPr lang="en-US" sz="1800" dirty="0">
                <a:solidFill>
                  <a:schemeClr val="tx1"/>
                </a:solidFill>
                <a:latin typeface="Times New Roman" pitchFamily="18" charset="0"/>
                <a:cs typeface="Times New Roman" pitchFamily="18" charset="0"/>
              </a:rPr>
              <a:t>1.Kartik </a:t>
            </a:r>
            <a:r>
              <a:rPr lang="en-US" sz="1800" dirty="0" err="1">
                <a:solidFill>
                  <a:schemeClr val="tx1"/>
                </a:solidFill>
                <a:latin typeface="Times New Roman" pitchFamily="18" charset="0"/>
                <a:cs typeface="Times New Roman" pitchFamily="18" charset="0"/>
              </a:rPr>
              <a:t>kurtade</a:t>
            </a:r>
            <a:endParaRPr lang="en-US" sz="1800" dirty="0">
              <a:solidFill>
                <a:schemeClr val="tx1"/>
              </a:solidFill>
              <a:latin typeface="Times New Roman" pitchFamily="18" charset="0"/>
              <a:cs typeface="Times New Roman" pitchFamily="18" charset="0"/>
            </a:endParaRPr>
          </a:p>
          <a:p>
            <a:pPr algn="l"/>
            <a:r>
              <a:rPr lang="en-US" sz="1800" dirty="0">
                <a:solidFill>
                  <a:schemeClr val="tx1"/>
                </a:solidFill>
                <a:latin typeface="Times New Roman" pitchFamily="18" charset="0"/>
                <a:cs typeface="Times New Roman" pitchFamily="18" charset="0"/>
              </a:rPr>
              <a:t>2.Krushnakant Patil</a:t>
            </a:r>
          </a:p>
          <a:p>
            <a:pPr algn="l"/>
            <a:endParaRPr sz="1400" b="1" dirty="0">
              <a:solidFill>
                <a:schemeClr val="tx1"/>
              </a:solidFill>
              <a:latin typeface="Times New Roman" pitchFamily="18" charset="0"/>
              <a:cs typeface="Times New Roman" pitchFamily="18" charset="0"/>
            </a:endParaRPr>
          </a:p>
          <a:p>
            <a:pPr algn="l"/>
            <a:r>
              <a:rPr sz="1800" b="1" dirty="0">
                <a:solidFill>
                  <a:schemeClr val="tx1"/>
                </a:solidFill>
                <a:latin typeface="Times New Roman" pitchFamily="18" charset="0"/>
                <a:cs typeface="Times New Roman" pitchFamily="18" charset="0"/>
              </a:rPr>
              <a:t>Faculty Name</a:t>
            </a:r>
            <a:r>
              <a:rPr lang="en-US" sz="1800" b="1" dirty="0">
                <a:solidFill>
                  <a:schemeClr val="tx1"/>
                </a:solidFill>
                <a:latin typeface="Times New Roman" pitchFamily="18" charset="0"/>
                <a:cs typeface="Times New Roman" pitchFamily="18" charset="0"/>
              </a:rPr>
              <a:t>: </a:t>
            </a:r>
            <a:r>
              <a:rPr lang="en-US" sz="1800" b="1">
                <a:solidFill>
                  <a:schemeClr val="tx1"/>
                </a:solidFill>
                <a:latin typeface="Times New Roman" pitchFamily="18" charset="0"/>
                <a:cs typeface="Times New Roman" pitchFamily="18" charset="0"/>
              </a:rPr>
              <a:t>Parul Rajwade </a:t>
            </a:r>
            <a:r>
              <a:rPr lang="en-US" sz="1800" b="1" dirty="0">
                <a:solidFill>
                  <a:schemeClr val="tx1"/>
                </a:solidFill>
                <a:latin typeface="Times New Roman" pitchFamily="18" charset="0"/>
                <a:cs typeface="Times New Roman" pitchFamily="18" charset="0"/>
              </a:rPr>
              <a:t>ma’am</a:t>
            </a:r>
          </a:p>
          <a:p>
            <a:pPr algn="l"/>
            <a:endParaRPr sz="1400" b="1" dirty="0">
              <a:solidFill>
                <a:schemeClr val="tx1"/>
              </a:solidFill>
              <a:latin typeface="Times New Roman" pitchFamily="18" charset="0"/>
              <a:cs typeface="Times New Roman" pitchFamily="18" charset="0"/>
            </a:endParaRPr>
          </a:p>
        </p:txBody>
      </p:sp>
      <p:sp>
        <p:nvSpPr>
          <p:cNvPr id="4" name="Rectangle 3"/>
          <p:cNvSpPr/>
          <p:nvPr/>
        </p:nvSpPr>
        <p:spPr>
          <a:xfrm>
            <a:off x="225468" y="179415"/>
            <a:ext cx="8605381" cy="2246769"/>
          </a:xfrm>
          <a:prstGeom prst="rect">
            <a:avLst/>
          </a:prstGeom>
        </p:spPr>
        <p:txBody>
          <a:bodyPr wrap="square">
            <a:spAutoFit/>
          </a:bodyPr>
          <a:lstStyle/>
          <a:p>
            <a:pPr algn="ctr"/>
            <a:r>
              <a:rPr lang="en-US" sz="1400" b="1" dirty="0">
                <a:latin typeface="Andalus" pitchFamily="18" charset="-78"/>
                <a:cs typeface="Andalus" pitchFamily="18" charset="-78"/>
              </a:rPr>
              <a:t>JSPM’s </a:t>
            </a:r>
            <a:br>
              <a:rPr lang="en-US" sz="1400" b="1" dirty="0">
                <a:latin typeface="Andalus" pitchFamily="18" charset="-78"/>
                <a:cs typeface="Andalus" pitchFamily="18" charset="-78"/>
              </a:rPr>
            </a:br>
            <a:r>
              <a:rPr lang="en-US" sz="1400" b="1" dirty="0" err="1">
                <a:latin typeface="Andalus" pitchFamily="18" charset="-78"/>
                <a:cs typeface="Andalus" pitchFamily="18" charset="-78"/>
              </a:rPr>
              <a:t>Rajarshi</a:t>
            </a:r>
            <a:r>
              <a:rPr lang="en-US" sz="1400" b="1" dirty="0">
                <a:latin typeface="Andalus" pitchFamily="18" charset="-78"/>
                <a:cs typeface="Andalus" pitchFamily="18" charset="-78"/>
              </a:rPr>
              <a:t> </a:t>
            </a:r>
            <a:r>
              <a:rPr lang="en-US" sz="1400" b="1" dirty="0" err="1">
                <a:latin typeface="Andalus" pitchFamily="18" charset="-78"/>
                <a:cs typeface="Andalus" pitchFamily="18" charset="-78"/>
              </a:rPr>
              <a:t>Shahu</a:t>
            </a:r>
            <a:r>
              <a:rPr lang="en-US" sz="1400" b="1" dirty="0">
                <a:latin typeface="Andalus" pitchFamily="18" charset="-78"/>
                <a:cs typeface="Andalus" pitchFamily="18" charset="-78"/>
              </a:rPr>
              <a:t> College of Engineering, </a:t>
            </a:r>
            <a:r>
              <a:rPr lang="en-US" sz="1400" b="1" dirty="0" err="1">
                <a:latin typeface="Andalus" pitchFamily="18" charset="-78"/>
                <a:cs typeface="Andalus" pitchFamily="18" charset="-78"/>
              </a:rPr>
              <a:t>Tathawade</a:t>
            </a:r>
            <a:r>
              <a:rPr lang="en-US" sz="1400" b="1" dirty="0">
                <a:latin typeface="Andalus" pitchFamily="18" charset="-78"/>
                <a:cs typeface="Andalus" pitchFamily="18" charset="-78"/>
              </a:rPr>
              <a:t>, Pune</a:t>
            </a:r>
            <a:br>
              <a:rPr lang="en-US" sz="1400" b="1" dirty="0">
                <a:latin typeface="Andalus" pitchFamily="18" charset="-78"/>
                <a:cs typeface="Andalus" pitchFamily="18" charset="-78"/>
              </a:rPr>
            </a:br>
            <a:r>
              <a:rPr lang="en-US" sz="1400" b="1" dirty="0">
                <a:latin typeface="Andalus" pitchFamily="18" charset="-78"/>
                <a:cs typeface="Andalus" pitchFamily="18" charset="-78"/>
              </a:rPr>
              <a:t>(An Empower Autonomous Institute under </a:t>
            </a:r>
            <a:r>
              <a:rPr lang="en-US" sz="1400" b="1" dirty="0" err="1">
                <a:latin typeface="Andalus" pitchFamily="18" charset="-78"/>
                <a:cs typeface="Andalus" pitchFamily="18" charset="-78"/>
              </a:rPr>
              <a:t>Savitribai</a:t>
            </a:r>
            <a:r>
              <a:rPr lang="en-US" sz="1400" b="1" dirty="0">
                <a:latin typeface="Andalus" pitchFamily="18" charset="-78"/>
                <a:cs typeface="Andalus" pitchFamily="18" charset="-78"/>
              </a:rPr>
              <a:t> </a:t>
            </a:r>
            <a:r>
              <a:rPr lang="en-US" sz="1400" b="1" dirty="0" err="1">
                <a:latin typeface="Andalus" pitchFamily="18" charset="-78"/>
                <a:cs typeface="Andalus" pitchFamily="18" charset="-78"/>
              </a:rPr>
              <a:t>Phule</a:t>
            </a:r>
            <a:r>
              <a:rPr lang="en-US" sz="1400" b="1" dirty="0">
                <a:latin typeface="Andalus" pitchFamily="18" charset="-78"/>
                <a:cs typeface="Andalus" pitchFamily="18" charset="-78"/>
              </a:rPr>
              <a:t> Pune University)</a:t>
            </a:r>
          </a:p>
          <a:p>
            <a:pPr algn="ctr"/>
            <a:endParaRPr lang="en-US" sz="1400" b="1" dirty="0">
              <a:cs typeface="Andalus" pitchFamily="18" charset="-78"/>
            </a:endParaRPr>
          </a:p>
          <a:p>
            <a:pPr algn="ctr"/>
            <a:r>
              <a:rPr lang="en-US" sz="2800" b="1" dirty="0">
                <a:solidFill>
                  <a:schemeClr val="accent2">
                    <a:lumMod val="75000"/>
                  </a:schemeClr>
                </a:solidFill>
                <a:cs typeface="Andalus" pitchFamily="18" charset="-78"/>
              </a:rPr>
              <a:t>Department of Computer Science and Business Systems</a:t>
            </a:r>
          </a:p>
          <a:p>
            <a:pPr algn="ctr"/>
            <a:r>
              <a:rPr lang="en-US" sz="2800" b="1" dirty="0">
                <a:solidFill>
                  <a:schemeClr val="accent2">
                    <a:lumMod val="75000"/>
                  </a:schemeClr>
                </a:solidFill>
                <a:cs typeface="Andalus" pitchFamily="18" charset="-78"/>
              </a:rPr>
              <a:t>Artificial Intelligence Mini Project</a:t>
            </a:r>
          </a:p>
          <a:p>
            <a:pPr algn="ctr"/>
            <a:r>
              <a:rPr lang="en-US" sz="2800" b="1" dirty="0">
                <a:solidFill>
                  <a:schemeClr val="accent2">
                    <a:lumMod val="75000"/>
                  </a:schemeClr>
                </a:solidFill>
                <a:cs typeface="Andalus" pitchFamily="18" charset="-78"/>
              </a:rPr>
              <a:t>AY-2025-26</a:t>
            </a:r>
            <a:endParaRPr lang="en-IN" sz="2800" dirty="0">
              <a:solidFill>
                <a:schemeClr val="accent2">
                  <a:lumMod val="75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637" y="87682"/>
            <a:ext cx="941963" cy="753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Introduction</a:t>
            </a:r>
          </a:p>
        </p:txBody>
      </p:sp>
      <p:sp>
        <p:nvSpPr>
          <p:cNvPr id="3" name="Content Placeholder 2"/>
          <p:cNvSpPr>
            <a:spLocks noGrp="1"/>
          </p:cNvSpPr>
          <p:nvPr>
            <p:ph idx="1"/>
          </p:nvPr>
        </p:nvSpPr>
        <p:spPr/>
        <p:txBody>
          <a:bodyPr/>
          <a:lstStyle/>
          <a:p>
            <a:pPr marL="0" indent="0">
              <a:buNone/>
            </a:pPr>
            <a:r>
              <a:rPr lang="en-US" sz="2000" dirty="0">
                <a:latin typeface="Times New Roman" pitchFamily="18" charset="0"/>
                <a:cs typeface="Times New Roman" pitchFamily="18" charset="0"/>
              </a:rPr>
              <a:t>The Movie Recommendation System is an AI-based project that suggests movies similar to the one a user selects.</a:t>
            </a:r>
          </a:p>
          <a:p>
            <a:pPr marL="0" indent="0">
              <a:buNone/>
            </a:pPr>
            <a:r>
              <a:rPr lang="en-US" sz="2000" dirty="0">
                <a:latin typeface="Times New Roman" pitchFamily="18" charset="0"/>
                <a:cs typeface="Times New Roman" pitchFamily="18" charset="0"/>
              </a:rPr>
              <a:t>It uses content-based filtering to analyze features such as genre, keywords, cast, and overview to find patterns and recommend similar movies.</a:t>
            </a:r>
          </a:p>
          <a:p>
            <a:pPr marL="0" indent="0">
              <a:buNone/>
            </a:pPr>
            <a:r>
              <a:rPr lang="en-US" sz="2000" dirty="0">
                <a:latin typeface="Times New Roman" pitchFamily="18" charset="0"/>
                <a:cs typeface="Times New Roman" pitchFamily="18" charset="0"/>
              </a:rPr>
              <a:t>The system is built using Python and </a:t>
            </a:r>
            <a:r>
              <a:rPr lang="en-US" sz="2000" dirty="0" err="1">
                <a:latin typeface="Times New Roman" pitchFamily="18" charset="0"/>
                <a:cs typeface="Times New Roman" pitchFamily="18" charset="0"/>
              </a:rPr>
              <a:t>Streamlit</a:t>
            </a:r>
            <a:r>
              <a:rPr lang="en-US" sz="2000" dirty="0">
                <a:latin typeface="Times New Roman" pitchFamily="18" charset="0"/>
                <a:cs typeface="Times New Roman" pitchFamily="18" charset="0"/>
              </a:rPr>
              <a:t> for the interface and uses machine learning techniques for similarity computation.</a:t>
            </a:r>
            <a:endParaRPr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0CFD-22BB-FFDD-05F1-7637A3DA2E09}"/>
              </a:ext>
            </a:extLst>
          </p:cNvPr>
          <p:cNvSpPr>
            <a:spLocks noGrp="1"/>
          </p:cNvSpPr>
          <p:nvPr>
            <p:ph type="title"/>
          </p:nvPr>
        </p:nvSpPr>
        <p:spPr>
          <a:xfrm>
            <a:off x="457200" y="274638"/>
            <a:ext cx="8229600" cy="891432"/>
          </a:xfrm>
        </p:spPr>
        <p:txBody>
          <a:bodyPr/>
          <a:lstStyle/>
          <a:p>
            <a:r>
              <a:rPr lang="en-IN" dirty="0" err="1"/>
              <a:t>Objective,Scope</a:t>
            </a:r>
            <a:r>
              <a:rPr lang="en-IN" dirty="0"/>
              <a:t> and SDG Goal</a:t>
            </a:r>
          </a:p>
        </p:txBody>
      </p:sp>
      <p:sp>
        <p:nvSpPr>
          <p:cNvPr id="3" name="Content Placeholder 2">
            <a:extLst>
              <a:ext uri="{FF2B5EF4-FFF2-40B4-BE49-F238E27FC236}">
                <a16:creationId xmlns:a16="http://schemas.microsoft.com/office/drawing/2014/main" id="{3090D563-9634-C3AB-3C9C-482C6356A808}"/>
              </a:ext>
            </a:extLst>
          </p:cNvPr>
          <p:cNvSpPr>
            <a:spLocks noGrp="1"/>
          </p:cNvSpPr>
          <p:nvPr>
            <p:ph idx="1"/>
          </p:nvPr>
        </p:nvSpPr>
        <p:spPr>
          <a:xfrm>
            <a:off x="557868" y="1166070"/>
            <a:ext cx="8229600" cy="5691930"/>
          </a:xfrm>
        </p:spPr>
        <p:txBody>
          <a:bodyPr>
            <a:normAutofit/>
          </a:bodyPr>
          <a:lstStyle/>
          <a:p>
            <a:r>
              <a:rPr lang="en-US" sz="2000" b="1" dirty="0"/>
              <a:t>Objective of the Project:</a:t>
            </a:r>
          </a:p>
          <a:p>
            <a:r>
              <a:rPr lang="en-US" sz="2000" dirty="0"/>
              <a:t>To design a smart system that recommends movies automatically based on user choice.</a:t>
            </a:r>
          </a:p>
          <a:p>
            <a:r>
              <a:rPr lang="en-US" sz="2000" dirty="0"/>
              <a:t>To apply AI and Machine Learning for understanding movie content and finding similarity.</a:t>
            </a:r>
          </a:p>
          <a:p>
            <a:r>
              <a:rPr lang="en-US" sz="2000" dirty="0"/>
              <a:t>To create an interactive web interface for recommendations using </a:t>
            </a:r>
            <a:r>
              <a:rPr lang="en-US" sz="2000" dirty="0" err="1"/>
              <a:t>Streamlit</a:t>
            </a:r>
            <a:r>
              <a:rPr lang="en-US" sz="2000" dirty="0"/>
              <a:t>.</a:t>
            </a:r>
          </a:p>
          <a:p>
            <a:r>
              <a:rPr lang="en-US" sz="2000" b="1" dirty="0"/>
              <a:t>Scope:</a:t>
            </a:r>
          </a:p>
          <a:p>
            <a:r>
              <a:rPr lang="en-US" sz="2000" dirty="0"/>
              <a:t>The system can be expanded to recommend not only movies but also songs, series, or </a:t>
            </a:r>
            <a:r>
              <a:rPr lang="en-US" sz="2000" dirty="0" err="1"/>
              <a:t>books.Can</a:t>
            </a:r>
            <a:r>
              <a:rPr lang="en-US" sz="2000" dirty="0"/>
              <a:t> be integrated with user preferences or online platforms like Netflix or IMDb in the future.</a:t>
            </a:r>
          </a:p>
          <a:p>
            <a:r>
              <a:rPr lang="en-US" sz="2000" dirty="0"/>
              <a:t>Useful in AI-based entertainment systems and personalized recommendation platforms.</a:t>
            </a:r>
          </a:p>
          <a:p>
            <a:r>
              <a:rPr lang="en-US" sz="2000" b="1" dirty="0"/>
              <a:t>Mapping With SDG Goal 9</a:t>
            </a:r>
            <a:r>
              <a:rPr lang="en-US" sz="2000" dirty="0"/>
              <a:t> – Industry, Innovation and Infrastructure This project promotes innovation and technology-driven entertainment systems, aligning with the UN SDG Goal 9.</a:t>
            </a:r>
            <a:endParaRPr lang="en-IN" sz="2000" dirty="0"/>
          </a:p>
        </p:txBody>
      </p:sp>
    </p:spTree>
    <p:extLst>
      <p:ext uri="{BB962C8B-B14F-4D97-AF65-F5344CB8AC3E}">
        <p14:creationId xmlns:p14="http://schemas.microsoft.com/office/powerpoint/2010/main" val="1566774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DDF2-C119-1C18-FC0F-2FCC241D37EE}"/>
              </a:ext>
            </a:extLst>
          </p:cNvPr>
          <p:cNvSpPr>
            <a:spLocks noGrp="1"/>
          </p:cNvSpPr>
          <p:nvPr>
            <p:ph type="title"/>
          </p:nvPr>
        </p:nvSpPr>
        <p:spPr/>
        <p:txBody>
          <a:bodyPr/>
          <a:lstStyle/>
          <a:p>
            <a:r>
              <a:rPr lang="en-IN" dirty="0"/>
              <a:t>Key Feature</a:t>
            </a:r>
          </a:p>
        </p:txBody>
      </p:sp>
      <p:sp>
        <p:nvSpPr>
          <p:cNvPr id="3" name="Content Placeholder 2">
            <a:extLst>
              <a:ext uri="{FF2B5EF4-FFF2-40B4-BE49-F238E27FC236}">
                <a16:creationId xmlns:a16="http://schemas.microsoft.com/office/drawing/2014/main" id="{F8088E75-36C6-F84C-BA10-2A7F96CB5F1A}"/>
              </a:ext>
            </a:extLst>
          </p:cNvPr>
          <p:cNvSpPr>
            <a:spLocks noGrp="1"/>
          </p:cNvSpPr>
          <p:nvPr>
            <p:ph idx="1"/>
          </p:nvPr>
        </p:nvSpPr>
        <p:spPr/>
        <p:txBody>
          <a:bodyPr>
            <a:normAutofit/>
          </a:bodyPr>
          <a:lstStyle/>
          <a:p>
            <a:r>
              <a:rPr lang="en-IN" sz="2200" b="1" dirty="0"/>
              <a:t>Key </a:t>
            </a:r>
            <a:r>
              <a:rPr lang="en-IN" sz="2200" b="1" dirty="0" err="1"/>
              <a:t>FeaturesAI</a:t>
            </a:r>
            <a:r>
              <a:rPr lang="en-IN" sz="2200" b="1" dirty="0"/>
              <a:t>:</a:t>
            </a:r>
          </a:p>
          <a:p>
            <a:r>
              <a:rPr lang="en-IN" sz="2200" dirty="0"/>
              <a:t>based automatic movie recommendations Uses Natural Language Processing (NLP) to understand movie content Simple and interactive Stream lit web interface Content-based filtering for accurate suggestions Works offline using open datasets (TMDB 5000 movies)</a:t>
            </a:r>
          </a:p>
        </p:txBody>
      </p:sp>
    </p:spTree>
    <p:extLst>
      <p:ext uri="{BB962C8B-B14F-4D97-AF65-F5344CB8AC3E}">
        <p14:creationId xmlns:p14="http://schemas.microsoft.com/office/powerpoint/2010/main" val="2781507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Algorithm </a:t>
            </a:r>
            <a:r>
              <a:rPr dirty="0">
                <a:latin typeface="Times New Roman" pitchFamily="18" charset="0"/>
                <a:cs typeface="Times New Roman" pitchFamily="18" charset="0"/>
              </a:rPr>
              <a:t>Used</a:t>
            </a:r>
          </a:p>
        </p:txBody>
      </p:sp>
      <p:sp>
        <p:nvSpPr>
          <p:cNvPr id="3" name="Content Placeholder 2"/>
          <p:cNvSpPr>
            <a:spLocks noGrp="1"/>
          </p:cNvSpPr>
          <p:nvPr>
            <p:ph idx="1"/>
          </p:nvPr>
        </p:nvSpPr>
        <p:spPr>
          <a:xfrm>
            <a:off x="457200" y="1417638"/>
            <a:ext cx="8229600" cy="4708525"/>
          </a:xfrm>
        </p:spPr>
        <p:txBody>
          <a:bodyPr>
            <a:normAutofit/>
          </a:bodyPr>
          <a:lstStyle/>
          <a:p>
            <a:r>
              <a:rPr sz="2000" b="1" dirty="0">
                <a:latin typeface="Times New Roman" pitchFamily="18" charset="0"/>
                <a:cs typeface="Times New Roman" pitchFamily="18" charset="0"/>
              </a:rPr>
              <a:t> Chosen </a:t>
            </a:r>
            <a:r>
              <a:rPr lang="en-US" sz="2000" b="1" dirty="0">
                <a:latin typeface="Times New Roman" pitchFamily="18" charset="0"/>
                <a:cs typeface="Times New Roman" pitchFamily="18" charset="0"/>
              </a:rPr>
              <a:t>Algorithm</a:t>
            </a:r>
            <a:r>
              <a:rPr sz="2000" dirty="0">
                <a:latin typeface="Times New Roman" pitchFamily="18" charset="0"/>
                <a:cs typeface="Times New Roman" pitchFamily="18" charset="0"/>
              </a:rPr>
              <a:t>: </a:t>
            </a:r>
            <a:r>
              <a:rPr lang="en-US" sz="2000" dirty="0">
                <a:latin typeface="Times New Roman" pitchFamily="18" charset="0"/>
                <a:cs typeface="Times New Roman" pitchFamily="18" charset="0"/>
              </a:rPr>
              <a:t>Content-Based Filtering (using Cosine Similarity + Count Vectorization)</a:t>
            </a:r>
          </a:p>
          <a:p>
            <a:endParaRPr lang="en-US" sz="2000" dirty="0">
              <a:latin typeface="Times New Roman" pitchFamily="18" charset="0"/>
              <a:cs typeface="Times New Roman" pitchFamily="18" charset="0"/>
            </a:endParaRPr>
          </a:p>
          <a:p>
            <a:r>
              <a:rPr sz="2000" b="1" dirty="0">
                <a:latin typeface="Times New Roman" pitchFamily="18" charset="0"/>
                <a:cs typeface="Times New Roman" pitchFamily="18" charset="0"/>
              </a:rPr>
              <a:t> Reason for Selection</a:t>
            </a:r>
            <a:r>
              <a:rPr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It effectively finds relationships between movies using their descriptions, genres, and keywords.</a:t>
            </a:r>
            <a:endParaRPr sz="2000" dirty="0">
              <a:latin typeface="Times New Roman" pitchFamily="18" charset="0"/>
              <a:cs typeface="Times New Roman" pitchFamily="18" charset="0"/>
            </a:endParaRPr>
          </a:p>
          <a:p>
            <a:r>
              <a:rPr sz="2000" dirty="0">
                <a:latin typeface="Times New Roman" pitchFamily="18" charset="0"/>
                <a:cs typeface="Times New Roman" pitchFamily="18" charset="0"/>
              </a:rPr>
              <a:t>   - </a:t>
            </a:r>
            <a:r>
              <a:rPr lang="en-US" sz="2000" dirty="0">
                <a:latin typeface="Times New Roman" pitchFamily="18" charset="0"/>
                <a:cs typeface="Times New Roman" pitchFamily="18" charset="0"/>
              </a:rPr>
              <a:t>It doesn’t need user ratings or feedback, only movie content.    </a:t>
            </a:r>
            <a:endParaRPr sz="2000" dirty="0">
              <a:latin typeface="Times New Roman" pitchFamily="18" charset="0"/>
              <a:cs typeface="Times New Roman" pitchFamily="18" charset="0"/>
            </a:endParaRPr>
          </a:p>
          <a:p>
            <a:r>
              <a:rPr sz="2000" b="1" dirty="0">
                <a:latin typeface="Times New Roman" pitchFamily="18" charset="0"/>
                <a:cs typeface="Times New Roman" pitchFamily="18" charset="0"/>
              </a:rPr>
              <a:t> Advantages:</a:t>
            </a:r>
          </a:p>
          <a:p>
            <a:r>
              <a:rPr lang="en-US" sz="2000" dirty="0">
                <a:latin typeface="Times New Roman" pitchFamily="18" charset="0"/>
                <a:cs typeface="Times New Roman" pitchFamily="18" charset="0"/>
              </a:rPr>
              <a:t>Simple, efficient, and interpretable</a:t>
            </a:r>
          </a:p>
          <a:p>
            <a:r>
              <a:rPr lang="en-US" sz="2000" dirty="0">
                <a:latin typeface="Times New Roman" pitchFamily="18" charset="0"/>
                <a:cs typeface="Times New Roman" pitchFamily="18" charset="0"/>
              </a:rPr>
              <a:t>Works well even with small datasets</a:t>
            </a:r>
          </a:p>
          <a:p>
            <a:r>
              <a:rPr lang="en-US" sz="2000" dirty="0">
                <a:latin typeface="Times New Roman" pitchFamily="18" charset="0"/>
                <a:cs typeface="Times New Roman" pitchFamily="18" charset="0"/>
              </a:rPr>
              <a:t>Easy to implement and understand</a:t>
            </a:r>
          </a:p>
          <a:p>
            <a:r>
              <a:rPr lang="en-US" sz="2000" dirty="0">
                <a:latin typeface="Times New Roman" pitchFamily="18" charset="0"/>
                <a:cs typeface="Times New Roman" pitchFamily="18" charset="0"/>
              </a:rPr>
              <a:t>Produces relevant recommendations for each selected movie</a:t>
            </a:r>
            <a:endParaRPr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Module </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Data Preprocessing Module – Cleans and prepares the movie dataset.</a:t>
            </a:r>
          </a:p>
          <a:p>
            <a:r>
              <a:rPr lang="en-US" sz="2000" dirty="0">
                <a:latin typeface="Times New Roman" pitchFamily="18" charset="0"/>
                <a:cs typeface="Times New Roman" pitchFamily="18" charset="0"/>
              </a:rPr>
              <a:t>Feature Extraction Module – Uses Count Vectorizer to convert text into numeric form.</a:t>
            </a:r>
          </a:p>
          <a:p>
            <a:r>
              <a:rPr lang="en-US" sz="2000" dirty="0">
                <a:latin typeface="Times New Roman" pitchFamily="18" charset="0"/>
                <a:cs typeface="Times New Roman" pitchFamily="18" charset="0"/>
              </a:rPr>
              <a:t>Similarity Computation Module – Applies Cosine Similarity to find related movies.</a:t>
            </a:r>
          </a:p>
          <a:p>
            <a:r>
              <a:rPr lang="en-US" sz="2000" dirty="0">
                <a:latin typeface="Times New Roman" pitchFamily="18" charset="0"/>
                <a:cs typeface="Times New Roman" pitchFamily="18" charset="0"/>
              </a:rPr>
              <a:t>Recommendation Module – Suggests top 5 similar movies to the selected one.</a:t>
            </a:r>
          </a:p>
          <a:p>
            <a:r>
              <a:rPr lang="en-US" sz="2000" dirty="0">
                <a:latin typeface="Times New Roman" pitchFamily="18" charset="0"/>
                <a:cs typeface="Times New Roman" pitchFamily="18" charset="0"/>
              </a:rPr>
              <a:t>User Interface Module – </a:t>
            </a:r>
            <a:r>
              <a:rPr lang="en-US" sz="2000" dirty="0" err="1">
                <a:latin typeface="Times New Roman" pitchFamily="18" charset="0"/>
                <a:cs typeface="Times New Roman" pitchFamily="18" charset="0"/>
              </a:rPr>
              <a:t>Streamlit</a:t>
            </a:r>
            <a:r>
              <a:rPr lang="en-US" sz="2000" dirty="0">
                <a:latin typeface="Times New Roman" pitchFamily="18" charset="0"/>
                <a:cs typeface="Times New Roman" pitchFamily="18" charset="0"/>
              </a:rPr>
              <a:t> app for user interaction and display of results.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87517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Methodology &amp; Results</a:t>
            </a:r>
          </a:p>
        </p:txBody>
      </p:sp>
      <p:sp>
        <p:nvSpPr>
          <p:cNvPr id="3" name="Content Placeholder 2"/>
          <p:cNvSpPr>
            <a:spLocks noGrp="1"/>
          </p:cNvSpPr>
          <p:nvPr>
            <p:ph idx="1"/>
          </p:nvPr>
        </p:nvSpPr>
        <p:spPr/>
        <p:txBody>
          <a:bodyPr>
            <a:normAutofit/>
          </a:bodyPr>
          <a:lstStyle/>
          <a:p>
            <a:r>
              <a:rPr lang="en-IN" sz="2000" b="1" dirty="0"/>
              <a:t>Methodology</a:t>
            </a:r>
            <a:r>
              <a:rPr lang="en-IN" sz="2000" dirty="0"/>
              <a:t>:</a:t>
            </a:r>
          </a:p>
          <a:p>
            <a:r>
              <a:rPr lang="en-IN" sz="2000" dirty="0"/>
              <a:t>Problem Analysis and Dataset Collection (TMDB 5000 Movie Dataset)Data Cleaning and Preprocessing using NLP Model Building using Count Vectorization and Cosine Similarity Integration with Stream lit for frontend Testing and validation with sample movie inputs</a:t>
            </a:r>
            <a:endParaRPr sz="2000" dirty="0">
              <a:latin typeface="Times New Roman" pitchFamily="18" charset="0"/>
              <a:cs typeface="Times New Roman" pitchFamily="18" charset="0"/>
            </a:endParaRPr>
          </a:p>
          <a:p>
            <a:r>
              <a:rPr sz="2000" b="1" dirty="0">
                <a:latin typeface="Times New Roman" pitchFamily="18" charset="0"/>
                <a:cs typeface="Times New Roman" pitchFamily="18" charset="0"/>
              </a:rPr>
              <a:t>• Results &amp; Conclusion:</a:t>
            </a:r>
          </a:p>
          <a:p>
            <a:r>
              <a:rPr sz="1800" dirty="0">
                <a:latin typeface="Times New Roman" pitchFamily="18" charset="0"/>
                <a:cs typeface="Times New Roman" pitchFamily="18" charset="0"/>
              </a:rPr>
              <a:t>   </a:t>
            </a:r>
            <a:r>
              <a:rPr lang="en-US" sz="2000" dirty="0">
                <a:latin typeface="Times New Roman" pitchFamily="18" charset="0"/>
                <a:cs typeface="Times New Roman" pitchFamily="18" charset="0"/>
              </a:rPr>
              <a:t>Successfully recommends the top 5 movies similar to user input. Provides accurate and fast movie recommendations using AI algorithms.</a:t>
            </a:r>
          </a:p>
          <a:p>
            <a:r>
              <a:rPr lang="en-US" sz="2000" b="1" dirty="0">
                <a:latin typeface="Times New Roman" pitchFamily="18" charset="0"/>
                <a:cs typeface="Times New Roman" pitchFamily="18" charset="0"/>
              </a:rPr>
              <a:t>Future Scope</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Add user-based collaborative filtering.</a:t>
            </a:r>
          </a:p>
          <a:p>
            <a:r>
              <a:rPr lang="en-US" sz="2000" dirty="0">
                <a:latin typeface="Times New Roman" pitchFamily="18" charset="0"/>
                <a:cs typeface="Times New Roman" pitchFamily="18" charset="0"/>
              </a:rPr>
              <a:t>Display movie posters and ratings using TMDB API.</a:t>
            </a:r>
          </a:p>
          <a:p>
            <a:r>
              <a:rPr lang="en-US" sz="2000" dirty="0">
                <a:latin typeface="Times New Roman" pitchFamily="18" charset="0"/>
                <a:cs typeface="Times New Roman" pitchFamily="18" charset="0"/>
              </a:rPr>
              <a:t>Expand to personalized recommendation systems.</a:t>
            </a:r>
            <a:endParaRPr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References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200" dirty="0"/>
              <a:t>TMDB 5000 Movie Dataset — </a:t>
            </a:r>
            <a:r>
              <a:rPr lang="en-IN" sz="2200" dirty="0" err="1"/>
              <a:t>KaggleStreamlit</a:t>
            </a:r>
            <a:r>
              <a:rPr lang="en-IN" sz="2200" dirty="0"/>
              <a:t> Documentation — https://docs.streamlit.io/Scikit-learn Library — https://scikit-learn.org/Python Official Documentation — https://www.python.org/ </a:t>
            </a:r>
          </a:p>
        </p:txBody>
      </p:sp>
    </p:spTree>
    <p:extLst>
      <p:ext uri="{BB962C8B-B14F-4D97-AF65-F5344CB8AC3E}">
        <p14:creationId xmlns:p14="http://schemas.microsoft.com/office/powerpoint/2010/main" val="1474368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195</TotalTime>
  <Words>568</Words>
  <Application>Microsoft Office PowerPoint</Application>
  <PresentationFormat>On-screen Show (4:3)</PresentationFormat>
  <Paragraphs>55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Andalus</vt:lpstr>
      <vt:lpstr>Arial</vt:lpstr>
      <vt:lpstr>Calibri</vt:lpstr>
      <vt:lpstr>Times New Roman</vt:lpstr>
      <vt:lpstr>Office Theme</vt:lpstr>
      <vt:lpstr>Title of Project:Movie Recommendation System using Artificial Intelligence</vt:lpstr>
      <vt:lpstr>Introduction</vt:lpstr>
      <vt:lpstr>Objective,Scope and SDG Goal</vt:lpstr>
      <vt:lpstr>Key Feature</vt:lpstr>
      <vt:lpstr>Algorithm Used</vt:lpstr>
      <vt:lpstr>Module </vt:lpstr>
      <vt:lpstr>Methodology &amp; Results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Project&lt;&lt;Example-Library Management System using Binary Search Tree&gt;&gt;</dc:title>
  <dc:subject/>
  <dc:creator/>
  <cp:keywords/>
  <dc:description>generated using python-pptx</dc:description>
  <cp:lastModifiedBy>Krushnakant Patil</cp:lastModifiedBy>
  <cp:revision>10</cp:revision>
  <dcterms:created xsi:type="dcterms:W3CDTF">2013-01-27T09:14:16Z</dcterms:created>
  <dcterms:modified xsi:type="dcterms:W3CDTF">2025-11-05T04:11:03Z</dcterms:modified>
  <cp:category/>
</cp:coreProperties>
</file>