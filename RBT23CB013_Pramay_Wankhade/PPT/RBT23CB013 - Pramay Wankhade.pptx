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59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inethsense.com/" TargetMode="External"/><Relationship Id="rId2" Type="http://schemas.openxmlformats.org/officeDocument/2006/relationships/hyperlink" Target="https://ai.google.de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ninethsense.com/general/document-summarizer-using-open-ai-on-langcha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Title of Project: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SummarEase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– AI PDF Summarizer and Assistant</a:t>
            </a:r>
            <a:endParaRPr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Pramay M. Wankhade (RBT23CB013)</a:t>
            </a:r>
          </a:p>
          <a:p>
            <a:pPr algn="l"/>
            <a:endParaRPr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Prof. Parul Rajwade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Systems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37" y="87682"/>
            <a:ext cx="941963" cy="75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8866"/>
            <a:ext cx="8229600" cy="5702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500" b="1" dirty="0">
                <a:latin typeface="+mj-lt"/>
                <a:cs typeface="Times New Roman" pitchFamily="18" charset="0"/>
              </a:rPr>
              <a:t>Objective of the Project: </a:t>
            </a:r>
            <a:endParaRPr lang="en-US" sz="1500" b="1" dirty="0">
              <a:latin typeface="+mj-lt"/>
              <a:cs typeface="Times New Roman" pitchFamily="18" charset="0"/>
            </a:endParaRPr>
          </a:p>
          <a:p>
            <a:r>
              <a:rPr lang="en-US" sz="1300" dirty="0">
                <a:latin typeface="+mj-lt"/>
                <a:cs typeface="Times New Roman" panose="02020603050405020304" pitchFamily="18" charset="0"/>
              </a:rPr>
              <a:t>Develop an </a:t>
            </a:r>
            <a:r>
              <a:rPr lang="en-US" sz="1300" b="1" dirty="0">
                <a:latin typeface="+mj-lt"/>
                <a:cs typeface="Times New Roman" panose="02020603050405020304" pitchFamily="18" charset="0"/>
              </a:rPr>
              <a:t>AI-based tool</a:t>
            </a:r>
            <a:r>
              <a:rPr lang="en-US" sz="1300" dirty="0">
                <a:latin typeface="+mj-lt"/>
                <a:cs typeface="Times New Roman" panose="02020603050405020304" pitchFamily="18" charset="0"/>
              </a:rPr>
              <a:t> to summarize lengthy PDF documents efficiently.</a:t>
            </a:r>
          </a:p>
          <a:p>
            <a:r>
              <a:rPr lang="en-US" sz="1300" dirty="0">
                <a:latin typeface="+mj-lt"/>
                <a:cs typeface="Times New Roman" panose="02020603050405020304" pitchFamily="18" charset="0"/>
              </a:rPr>
              <a:t>Enable </a:t>
            </a:r>
            <a:r>
              <a:rPr lang="en-US" sz="1300" b="1" dirty="0">
                <a:latin typeface="+mj-lt"/>
                <a:cs typeface="Times New Roman" panose="02020603050405020304" pitchFamily="18" charset="0"/>
              </a:rPr>
              <a:t>interactive Q&amp;A</a:t>
            </a:r>
            <a:r>
              <a:rPr lang="en-US" sz="1300" dirty="0">
                <a:latin typeface="+mj-lt"/>
                <a:cs typeface="Times New Roman" panose="02020603050405020304" pitchFamily="18" charset="0"/>
              </a:rPr>
              <a:t> and </a:t>
            </a:r>
            <a:r>
              <a:rPr lang="en-US" sz="1300" b="1" dirty="0">
                <a:latin typeface="+mj-lt"/>
                <a:cs typeface="Times New Roman" panose="02020603050405020304" pitchFamily="18" charset="0"/>
              </a:rPr>
              <a:t>quiz generation</a:t>
            </a:r>
            <a:r>
              <a:rPr lang="en-US" sz="1300" dirty="0">
                <a:latin typeface="+mj-lt"/>
                <a:cs typeface="Times New Roman" panose="02020603050405020304" pitchFamily="18" charset="0"/>
              </a:rPr>
              <a:t> for better understanding.</a:t>
            </a:r>
          </a:p>
          <a:p>
            <a:r>
              <a:rPr lang="en-US" sz="1300" dirty="0">
                <a:latin typeface="+mj-lt"/>
                <a:cs typeface="Times New Roman" panose="02020603050405020304" pitchFamily="18" charset="0"/>
              </a:rPr>
              <a:t>Provide </a:t>
            </a:r>
            <a:r>
              <a:rPr lang="en-US" sz="1300" b="1" dirty="0">
                <a:latin typeface="+mj-lt"/>
                <a:cs typeface="Times New Roman" panose="02020603050405020304" pitchFamily="18" charset="0"/>
              </a:rPr>
              <a:t>reference-linked summaries</a:t>
            </a:r>
            <a:r>
              <a:rPr lang="en-US" sz="1300" dirty="0">
                <a:latin typeface="+mj-lt"/>
                <a:cs typeface="Times New Roman" panose="02020603050405020304" pitchFamily="18" charset="0"/>
              </a:rPr>
              <a:t> to maintain content context.</a:t>
            </a:r>
          </a:p>
          <a:p>
            <a:r>
              <a:rPr lang="en-US" sz="1300" dirty="0">
                <a:latin typeface="+mj-lt"/>
                <a:cs typeface="Times New Roman" panose="02020603050405020304" pitchFamily="18" charset="0"/>
              </a:rPr>
              <a:t>Enhance productivity by reducing reading time and improving knowledge accessibility.</a:t>
            </a:r>
          </a:p>
          <a:p>
            <a:pPr marL="0" indent="0">
              <a:buNone/>
            </a:pPr>
            <a:endParaRPr lang="en-US" sz="1400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sz="1500" b="1" dirty="0">
                <a:latin typeface="+mj-lt"/>
                <a:cs typeface="Times New Roman" pitchFamily="18" charset="0"/>
              </a:rPr>
              <a:t>Scope:</a:t>
            </a:r>
            <a:endParaRPr lang="en-US" sz="1500" b="1" dirty="0">
              <a:latin typeface="+mj-lt"/>
              <a:cs typeface="Times New Roman" pitchFamily="18" charset="0"/>
            </a:endParaRPr>
          </a:p>
          <a:p>
            <a:r>
              <a:rPr lang="en-IN" sz="1300" dirty="0">
                <a:latin typeface="+mj-lt"/>
                <a:cs typeface="Times New Roman" panose="02020603050405020304" pitchFamily="18" charset="0"/>
              </a:rPr>
              <a:t>Automates </a:t>
            </a:r>
            <a:r>
              <a:rPr lang="en-IN" sz="1300" b="1" dirty="0">
                <a:latin typeface="+mj-lt"/>
                <a:cs typeface="Times New Roman" panose="02020603050405020304" pitchFamily="18" charset="0"/>
              </a:rPr>
              <a:t>document summarization and exploration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 using AI &amp; NLP.</a:t>
            </a:r>
          </a:p>
          <a:p>
            <a:r>
              <a:rPr lang="en-IN" sz="1300" dirty="0">
                <a:latin typeface="+mj-lt"/>
                <a:cs typeface="Times New Roman" panose="02020603050405020304" pitchFamily="18" charset="0"/>
              </a:rPr>
              <a:t>Allows </a:t>
            </a:r>
            <a:r>
              <a:rPr lang="en-IN" sz="1300" b="1" dirty="0">
                <a:latin typeface="+mj-lt"/>
                <a:cs typeface="Times New Roman" panose="02020603050405020304" pitchFamily="18" charset="0"/>
              </a:rPr>
              <a:t>PDF upload, text extraction, summarization, and Q&amp;A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 in one interface.</a:t>
            </a:r>
          </a:p>
          <a:p>
            <a:r>
              <a:rPr lang="en-IN" sz="1300" dirty="0">
                <a:latin typeface="+mj-lt"/>
                <a:cs typeface="Times New Roman" panose="02020603050405020304" pitchFamily="18" charset="0"/>
              </a:rPr>
              <a:t>Useful for </a:t>
            </a:r>
            <a:r>
              <a:rPr lang="en-IN" sz="1300" b="1" dirty="0">
                <a:latin typeface="+mj-lt"/>
                <a:cs typeface="Times New Roman" panose="02020603050405020304" pitchFamily="18" charset="0"/>
              </a:rPr>
              <a:t>students, faculties, researchers, educators, and professionals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.</a:t>
            </a:r>
          </a:p>
          <a:p>
            <a:r>
              <a:rPr lang="en-IN" sz="1300" dirty="0">
                <a:latin typeface="+mj-lt"/>
                <a:cs typeface="Times New Roman" panose="02020603050405020304" pitchFamily="18" charset="0"/>
              </a:rPr>
              <a:t>Scalable to include </a:t>
            </a:r>
            <a:r>
              <a:rPr lang="en-IN" sz="1300" b="1" dirty="0">
                <a:latin typeface="+mj-lt"/>
                <a:cs typeface="Times New Roman" panose="02020603050405020304" pitchFamily="18" charset="0"/>
              </a:rPr>
              <a:t>multi-document support and multilingual summarization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200" b="1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500" b="1" dirty="0">
                <a:latin typeface="+mj-lt"/>
                <a:cs typeface="Times New Roman" pitchFamily="18" charset="0"/>
              </a:rPr>
              <a:t>Mapping With SDG Goal</a:t>
            </a:r>
            <a:r>
              <a:rPr lang="en-US" sz="1400" b="1" dirty="0">
                <a:latin typeface="+mj-lt"/>
                <a:cs typeface="Times New Roman" pitchFamily="18" charset="0"/>
              </a:rPr>
              <a:t>: </a:t>
            </a:r>
            <a:r>
              <a:rPr lang="en-IN" sz="1400" dirty="0">
                <a:latin typeface="+mj-lt"/>
              </a:rPr>
              <a:t>SDG 4 – Quality Education</a:t>
            </a:r>
          </a:p>
          <a:p>
            <a:pPr marL="0" indent="0">
              <a:buNone/>
            </a:pPr>
            <a:r>
              <a:rPr lang="en-US" sz="1300" dirty="0">
                <a:latin typeface="+mj-lt"/>
              </a:rPr>
              <a:t>Ensure inclusive and equitable quality education and promote lifelong learning opportunities for all.</a:t>
            </a:r>
            <a:endParaRPr lang="en-US" sz="1300" b="1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endParaRPr lang="en-US" sz="1400" b="1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sz="1500" b="1" dirty="0">
                <a:latin typeface="+mj-lt"/>
                <a:cs typeface="Times New Roman" pitchFamily="18" charset="0"/>
              </a:rPr>
              <a:t>Key Features:</a:t>
            </a:r>
            <a:endParaRPr lang="en-US" sz="1500" b="1" dirty="0">
              <a:latin typeface="+mj-lt"/>
              <a:cs typeface="Times New Roman" pitchFamily="18" charset="0"/>
            </a:endParaRPr>
          </a:p>
          <a:p>
            <a:r>
              <a:rPr lang="en-IN" sz="1300" b="1" dirty="0">
                <a:latin typeface="+mj-lt"/>
                <a:cs typeface="Times New Roman" panose="02020603050405020304" pitchFamily="18" charset="0"/>
              </a:rPr>
              <a:t>Smart Summarization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 – Generate concise or detailed summaries.</a:t>
            </a:r>
          </a:p>
          <a:p>
            <a:r>
              <a:rPr lang="en-IN" sz="1300" b="1" dirty="0">
                <a:latin typeface="+mj-lt"/>
                <a:cs typeface="Times New Roman" panose="02020603050405020304" pitchFamily="18" charset="0"/>
              </a:rPr>
              <a:t>Interactive Q&amp;A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 – Ask AI about document contents.</a:t>
            </a:r>
          </a:p>
          <a:p>
            <a:r>
              <a:rPr lang="en-IN" sz="1300" b="1" dirty="0">
                <a:latin typeface="+mj-lt"/>
                <a:cs typeface="Times New Roman" panose="02020603050405020304" pitchFamily="18" charset="0"/>
              </a:rPr>
              <a:t>Reference-Linked Summaries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 – Trace back to the original text.</a:t>
            </a:r>
          </a:p>
          <a:p>
            <a:r>
              <a:rPr lang="en-IN" sz="1300" b="1" dirty="0">
                <a:latin typeface="+mj-lt"/>
                <a:cs typeface="Times New Roman" panose="02020603050405020304" pitchFamily="18" charset="0"/>
              </a:rPr>
              <a:t>Quiz Generation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 – Auto-generate quizzes from content.</a:t>
            </a:r>
          </a:p>
          <a:p>
            <a:r>
              <a:rPr lang="en-IN" sz="1300" b="1" dirty="0">
                <a:latin typeface="+mj-lt"/>
                <a:cs typeface="Times New Roman" panose="02020603050405020304" pitchFamily="18" charset="0"/>
              </a:rPr>
              <a:t>PDF Viewer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 – Read and highlight extracted text.</a:t>
            </a:r>
          </a:p>
          <a:p>
            <a:r>
              <a:rPr lang="en-IN" sz="1300" b="1" dirty="0">
                <a:latin typeface="+mj-lt"/>
                <a:cs typeface="Times New Roman" panose="02020603050405020304" pitchFamily="18" charset="0"/>
              </a:rPr>
              <a:t>Export Options</a:t>
            </a:r>
            <a:r>
              <a:rPr lang="en-IN" sz="1300" dirty="0">
                <a:latin typeface="+mj-lt"/>
                <a:cs typeface="Times New Roman" panose="02020603050405020304" pitchFamily="18" charset="0"/>
              </a:rPr>
              <a:t> – Save summaries and Q&amp;A sessions.</a:t>
            </a:r>
            <a:endParaRPr sz="1300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>
                <a:latin typeface="+mj-lt"/>
                <a:cs typeface="Times New Roman" pitchFamily="18" charset="0"/>
              </a:rPr>
              <a:t> Chosen </a:t>
            </a:r>
            <a:r>
              <a:rPr lang="en-US" sz="1600" dirty="0">
                <a:latin typeface="+mj-lt"/>
                <a:cs typeface="Times New Roman" pitchFamily="18" charset="0"/>
              </a:rPr>
              <a:t>Algorithm</a:t>
            </a:r>
            <a:r>
              <a:rPr sz="1600" dirty="0">
                <a:latin typeface="+mj-lt"/>
                <a:cs typeface="Times New Roman" pitchFamily="18" charset="0"/>
              </a:rPr>
              <a:t>:</a:t>
            </a:r>
            <a:r>
              <a:rPr lang="en-US" sz="1600" dirty="0">
                <a:latin typeface="+mj-lt"/>
                <a:cs typeface="Times New Roman" pitchFamily="18" charset="0"/>
              </a:rPr>
              <a:t> </a:t>
            </a:r>
            <a:r>
              <a:rPr lang="en-IN" sz="1600" b="1" dirty="0">
                <a:latin typeface="+mj-lt"/>
              </a:rPr>
              <a:t>Transformer-based Language Model (Gemini API)</a:t>
            </a:r>
            <a:endParaRPr lang="en-US" sz="1600" dirty="0">
              <a:latin typeface="+mj-lt"/>
              <a:cs typeface="Times New Roman" pitchFamily="18" charset="0"/>
            </a:endParaRPr>
          </a:p>
          <a:p>
            <a:r>
              <a:rPr sz="1600" dirty="0">
                <a:latin typeface="+mj-lt"/>
                <a:cs typeface="Times New Roman" pitchFamily="18" charset="0"/>
              </a:rPr>
              <a:t> Reason for Selection:</a:t>
            </a:r>
            <a:endParaRPr lang="en-US" sz="1600" dirty="0">
              <a:latin typeface="+mj-lt"/>
              <a:cs typeface="Times New Roman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Uses </a:t>
            </a:r>
            <a:r>
              <a:rPr lang="en-US" sz="1500" b="1" dirty="0">
                <a:latin typeface="+mj-lt"/>
              </a:rPr>
              <a:t>Transformer-based architecture</a:t>
            </a:r>
            <a:r>
              <a:rPr lang="en-US" sz="1500" dirty="0">
                <a:latin typeface="+mj-lt"/>
              </a:rPr>
              <a:t> capable of understanding context and generating coherent, human-like summaries.</a:t>
            </a:r>
            <a:r>
              <a:rPr lang="en-US" sz="1500" dirty="0">
                <a:latin typeface="+mj-lt"/>
                <a:cs typeface="Times New Roman" pitchFamily="18" charset="0"/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</a:rPr>
              <a:t>Easily integrates with </a:t>
            </a:r>
            <a:r>
              <a:rPr lang="en-US" sz="1500" b="1" dirty="0" err="1">
                <a:latin typeface="+mj-lt"/>
              </a:rPr>
              <a:t>Streamlit</a:t>
            </a:r>
            <a:r>
              <a:rPr lang="en-US" sz="1500" b="1" dirty="0">
                <a:latin typeface="+mj-lt"/>
              </a:rPr>
              <a:t> via Gemini API</a:t>
            </a:r>
            <a:r>
              <a:rPr lang="en-US" sz="1500" dirty="0">
                <a:latin typeface="+mj-lt"/>
              </a:rPr>
              <a:t>, offering high accuracy and adaptability for summarization and Q&amp;A tasks.</a:t>
            </a:r>
            <a:endParaRPr lang="en-US" sz="1500" dirty="0">
              <a:latin typeface="+mj-lt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1200" dirty="0">
              <a:latin typeface="+mj-lt"/>
              <a:cs typeface="Times New Roman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IN" sz="1200" dirty="0">
              <a:latin typeface="+mj-lt"/>
              <a:cs typeface="Times New Roman" pitchFamily="18" charset="0"/>
            </a:endParaRPr>
          </a:p>
          <a:p>
            <a:r>
              <a:rPr sz="1600" dirty="0">
                <a:latin typeface="+mj-lt"/>
                <a:cs typeface="Times New Roman" pitchFamily="18" charset="0"/>
              </a:rPr>
              <a:t>Advantages: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b="1" dirty="0">
                <a:latin typeface="+mj-lt"/>
              </a:rPr>
              <a:t>Efficient Performance:</a:t>
            </a:r>
            <a:r>
              <a:rPr lang="en-IN" sz="1500" dirty="0">
                <a:latin typeface="+mj-lt"/>
              </a:rPr>
              <a:t> Handles large text data with optimized attention mechanisms for faster summarization.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b="1" dirty="0">
                <a:latin typeface="+mj-lt"/>
              </a:rPr>
              <a:t>Easy Implementation:</a:t>
            </a:r>
            <a:r>
              <a:rPr lang="en-IN" sz="1500" dirty="0">
                <a:latin typeface="+mj-lt"/>
              </a:rPr>
              <a:t> Simplifies text analysis through ready-to-use APIs without requiring local model training.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b="1" dirty="0">
                <a:latin typeface="+mj-lt"/>
              </a:rPr>
              <a:t>Context Awareness:</a:t>
            </a:r>
            <a:r>
              <a:rPr lang="en-IN" sz="1500" dirty="0">
                <a:latin typeface="+mj-lt"/>
              </a:rPr>
              <a:t> Maintains meaning and context across long passages, improving summary quality.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b="1" dirty="0">
                <a:latin typeface="+mj-lt"/>
              </a:rPr>
              <a:t>Scalable &amp; Reliable:</a:t>
            </a:r>
            <a:r>
              <a:rPr lang="en-IN" sz="1500" dirty="0">
                <a:latin typeface="+mj-lt"/>
              </a:rPr>
              <a:t> Backed by Google’s cloud infrastructure ensuring stability and scalability.</a:t>
            </a:r>
          </a:p>
          <a:p>
            <a:pPr lvl="1">
              <a:buFont typeface="Arial" panose="020B0604020202020204" pitchFamily="34" charset="0"/>
              <a:buChar char="•"/>
            </a:pPr>
            <a:endParaRPr sz="1200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0C3EE0-CBD8-6604-C149-748D33DCF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428"/>
            <a:ext cx="9144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3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7523"/>
            <a:ext cx="8229600" cy="533891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1️⃣ PDF Text Extraction Module</a:t>
            </a:r>
          </a:p>
          <a:p>
            <a:r>
              <a:rPr lang="en-IN" dirty="0"/>
              <a:t>Extracts text content from uploaded PDFs using </a:t>
            </a:r>
            <a:r>
              <a:rPr lang="en-IN" b="1" dirty="0"/>
              <a:t>PyPDF2</a:t>
            </a:r>
            <a:r>
              <a:rPr lang="en-IN" dirty="0"/>
              <a:t>.</a:t>
            </a:r>
          </a:p>
          <a:p>
            <a:r>
              <a:rPr lang="en-IN" dirty="0"/>
              <a:t>Reads pages sequentially and cleans text for further processing.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2️⃣ Summarization Module</a:t>
            </a:r>
          </a:p>
          <a:p>
            <a:r>
              <a:rPr lang="en-IN" dirty="0"/>
              <a:t>Uses </a:t>
            </a:r>
            <a:r>
              <a:rPr lang="en-IN" b="1" dirty="0"/>
              <a:t>Google Generative AI (Gemini API)</a:t>
            </a:r>
            <a:r>
              <a:rPr lang="en-IN" dirty="0"/>
              <a:t> to generate concise or detailed summaries.</a:t>
            </a:r>
          </a:p>
          <a:p>
            <a:r>
              <a:rPr lang="en-IN" dirty="0"/>
              <a:t>Sends extracted text as input and retrieves context-aware output.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3️⃣ Q&amp;A Module</a:t>
            </a:r>
          </a:p>
          <a:p>
            <a:r>
              <a:rPr lang="en-IN" dirty="0"/>
              <a:t>Enables users to ask questions based on PDF content.</a:t>
            </a:r>
          </a:p>
          <a:p>
            <a:r>
              <a:rPr lang="en-IN" dirty="0"/>
              <a:t>Gemini AI provides </a:t>
            </a:r>
            <a:r>
              <a:rPr lang="en-IN" b="1" dirty="0"/>
              <a:t>relevant, context-based answers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4️⃣ Quiz Generation Module</a:t>
            </a:r>
          </a:p>
          <a:p>
            <a:r>
              <a:rPr lang="en-IN" dirty="0"/>
              <a:t>Automatically generates </a:t>
            </a:r>
            <a:r>
              <a:rPr lang="en-IN" b="1" dirty="0"/>
              <a:t>quiz questions</a:t>
            </a:r>
            <a:r>
              <a:rPr lang="en-IN" dirty="0"/>
              <a:t> (MCQs/short answers) from summarized content.</a:t>
            </a:r>
          </a:p>
          <a:p>
            <a:r>
              <a:rPr lang="en-IN" dirty="0"/>
              <a:t>Helps users test their understanding.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5️⃣ User Interface Module</a:t>
            </a:r>
          </a:p>
          <a:p>
            <a:r>
              <a:rPr lang="en-IN" dirty="0"/>
              <a:t>Developed using </a:t>
            </a:r>
            <a:r>
              <a:rPr lang="en-IN" b="1" dirty="0" err="1"/>
              <a:t>Streamlit</a:t>
            </a:r>
            <a:r>
              <a:rPr lang="en-IN" dirty="0"/>
              <a:t> for an interactive web experience.</a:t>
            </a:r>
          </a:p>
          <a:p>
            <a:r>
              <a:rPr lang="en-IN" dirty="0"/>
              <a:t>Handles </a:t>
            </a:r>
            <a:r>
              <a:rPr lang="en-IN" b="1" dirty="0"/>
              <a:t>PDF upload, summary display, Q&amp;A, and quiz interface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8865"/>
            <a:ext cx="8229600" cy="5427405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+mj-lt"/>
                <a:cs typeface="Times New Roman" pitchFamily="18" charset="0"/>
              </a:rPr>
              <a:t>Methodology:</a:t>
            </a:r>
          </a:p>
          <a:p>
            <a:pPr marL="0" indent="0">
              <a:buNone/>
            </a:pPr>
            <a:r>
              <a:rPr lang="en-IN" sz="1800" dirty="0">
                <a:latin typeface="+mj-lt"/>
                <a:cs typeface="Times New Roman" pitchFamily="18" charset="0"/>
              </a:rPr>
              <a:t>   1. Problem analysis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Identified the need for an AI-based system to summarize and </a:t>
            </a:r>
            <a:r>
              <a:rPr lang="en-IN" sz="1500" dirty="0" err="1">
                <a:latin typeface="+mj-lt"/>
              </a:rPr>
              <a:t>analyze</a:t>
            </a:r>
            <a:r>
              <a:rPr lang="en-IN" sz="1500" dirty="0">
                <a:latin typeface="+mj-lt"/>
              </a:rPr>
              <a:t> lengthy PDF documents efficiently</a:t>
            </a:r>
            <a:r>
              <a:rPr lang="en-IN" sz="1400" dirty="0">
                <a:latin typeface="+mj-lt"/>
              </a:rPr>
              <a:t>.</a:t>
            </a:r>
            <a:endParaRPr lang="en-IN" sz="1800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+mj-lt"/>
                <a:cs typeface="Times New Roman" pitchFamily="18" charset="0"/>
              </a:rPr>
              <a:t>   2. Algorithm design &amp; coding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Implemented </a:t>
            </a:r>
            <a:r>
              <a:rPr lang="en-IN" sz="1500" b="1" dirty="0">
                <a:latin typeface="+mj-lt"/>
              </a:rPr>
              <a:t>Transformer-based Gemini AI</a:t>
            </a:r>
            <a:r>
              <a:rPr lang="en-IN" sz="1500" dirty="0">
                <a:latin typeface="+mj-lt"/>
              </a:rPr>
              <a:t> for summarization, Q&amp;A, and quiz generation.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Integrated modules using </a:t>
            </a:r>
            <a:r>
              <a:rPr lang="en-IN" sz="1500" b="1" dirty="0">
                <a:latin typeface="+mj-lt"/>
              </a:rPr>
              <a:t>Python</a:t>
            </a:r>
            <a:r>
              <a:rPr lang="en-IN" sz="1500" dirty="0">
                <a:latin typeface="+mj-lt"/>
              </a:rPr>
              <a:t> and </a:t>
            </a:r>
            <a:r>
              <a:rPr lang="en-IN" sz="1500" b="1" dirty="0" err="1">
                <a:latin typeface="+mj-lt"/>
              </a:rPr>
              <a:t>Streamlit</a:t>
            </a:r>
            <a:r>
              <a:rPr lang="en-IN" sz="1500" dirty="0">
                <a:latin typeface="+mj-lt"/>
              </a:rPr>
              <a:t> for user interaction.</a:t>
            </a:r>
            <a:endParaRPr lang="en-IN" sz="1500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+mj-lt"/>
                <a:cs typeface="Times New Roman" pitchFamily="18" charset="0"/>
              </a:rPr>
              <a:t>   4. Testing &amp; validation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Verified text extraction, summary accuracy, and response relevance across multiple documents.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Ensured smooth performance and user-friendly interface.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sz="1800" dirty="0">
              <a:latin typeface="+mj-lt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+mj-lt"/>
                <a:cs typeface="Times New Roman" pitchFamily="18" charset="0"/>
              </a:rPr>
              <a:t>• </a:t>
            </a:r>
            <a:r>
              <a:rPr lang="en-IN" sz="1800" b="1" dirty="0">
                <a:latin typeface="+mj-lt"/>
                <a:cs typeface="Times New Roman" pitchFamily="18" charset="0"/>
              </a:rPr>
              <a:t>Results &amp; 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Achieved </a:t>
            </a:r>
            <a:r>
              <a:rPr lang="en-IN" sz="1500" b="1" dirty="0">
                <a:latin typeface="+mj-lt"/>
              </a:rPr>
              <a:t>accurate, concise summaries</a:t>
            </a:r>
            <a:r>
              <a:rPr lang="en-IN" sz="1500" dirty="0">
                <a:latin typeface="+mj-lt"/>
              </a:rPr>
              <a:t> and </a:t>
            </a:r>
            <a:r>
              <a:rPr lang="en-IN" sz="1500" b="1" dirty="0">
                <a:latin typeface="+mj-lt"/>
              </a:rPr>
              <a:t>interactive document exploration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500" dirty="0">
                <a:latin typeface="+mj-lt"/>
              </a:rPr>
              <a:t>Improved productivity by reducing reading and comprehension time</a:t>
            </a:r>
          </a:p>
          <a:p>
            <a:pPr marL="457200" lvl="1" indent="0">
              <a:buNone/>
            </a:pPr>
            <a:endParaRPr lang="en-IN" sz="1500" dirty="0">
              <a:latin typeface="+mj-lt"/>
              <a:cs typeface="Times New Roman" pitchFamily="18" charset="0"/>
            </a:endParaRPr>
          </a:p>
          <a:p>
            <a:r>
              <a:rPr lang="en-IN" sz="1800" b="1" dirty="0">
                <a:latin typeface="+mj-lt"/>
                <a:cs typeface="Times New Roman" pitchFamily="18" charset="0"/>
              </a:rPr>
              <a:t>Future scope</a:t>
            </a:r>
            <a:r>
              <a:rPr lang="en-IN" sz="1800" dirty="0">
                <a:latin typeface="+mj-lt"/>
                <a:cs typeface="Times New Roman" pitchFamily="18" charset="0"/>
              </a:rPr>
              <a:t>: </a:t>
            </a:r>
            <a:r>
              <a:rPr lang="en-IN" sz="1500" dirty="0">
                <a:latin typeface="+mj-lt"/>
              </a:rPr>
              <a:t>Integration of advanced GUI, database connectivity, offline functionality, and intelligent caching for faster and seamless user experience.</a:t>
            </a:r>
          </a:p>
          <a:p>
            <a:endParaRPr lang="en-IN" sz="1800" dirty="0"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F3B530-1E8D-D1A3-7DE4-9BB8771E36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709023"/>
            <a:ext cx="79015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Generative AI (Gemini)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https://ai.google.dev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PyPDF2 – Do</a:t>
            </a:r>
            <a:r>
              <a:rPr lang="en-US" altLang="en-US" sz="1800" dirty="0">
                <a:latin typeface="Arial" panose="020B0604020202020204" pitchFamily="34" charset="0"/>
              </a:rPr>
              <a:t>cumentations – (https://pypdf2.readthedocs.io/en/3.x/)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IN" sz="1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NinethSense</a:t>
            </a:r>
            <a:r>
              <a:rPr lang="en-I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sz="1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oWnZ</a:t>
            </a:r>
            <a:r>
              <a:rPr lang="en-IN" sz="1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1800" dirty="0">
                <a:solidFill>
                  <a:srgbClr val="0000FF"/>
                </a:solidFill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document-summarizer-using-open-ai-on-</a:t>
            </a:r>
            <a:r>
              <a:rPr lang="en-US" altLang="en-US" sz="1800" dirty="0" err="1"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langchain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PDF-summarizer-chatbot-using-LLaMa2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673</Words>
  <Application>Microsoft Office PowerPoint</Application>
  <PresentationFormat>On-screen Show (4:3)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Andalus</vt:lpstr>
      <vt:lpstr>Arial</vt:lpstr>
      <vt:lpstr>Calibri</vt:lpstr>
      <vt:lpstr>Times New Roman</vt:lpstr>
      <vt:lpstr>Office Theme</vt:lpstr>
      <vt:lpstr>Title of Project: SummarEase – AI PDF Summarizer and Assistant</vt:lpstr>
      <vt:lpstr>Introduction</vt:lpstr>
      <vt:lpstr>Algorithm Used</vt:lpstr>
      <vt:lpstr>PowerPoint Presentation</vt:lpstr>
      <vt:lpstr>Module </vt:lpstr>
      <vt:lpstr>Methodology &amp; Results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>pramay wankhade</dc:creator>
  <cp:keywords/>
  <dc:description>generated using python-pptx</dc:description>
  <cp:lastModifiedBy>Pramay Wankhade</cp:lastModifiedBy>
  <cp:revision>12</cp:revision>
  <dcterms:created xsi:type="dcterms:W3CDTF">2013-01-27T09:14:16Z</dcterms:created>
  <dcterms:modified xsi:type="dcterms:W3CDTF">2025-11-05T03:57:58Z</dcterms:modified>
  <cp:category/>
</cp:coreProperties>
</file>